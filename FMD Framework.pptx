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9" r:id="rId2"/>
    <p:sldId id="257" r:id="rId3"/>
    <p:sldId id="256" r:id="rId4"/>
    <p:sldId id="260" r:id="rId5"/>
    <p:sldId id="270" r:id="rId6"/>
    <p:sldId id="261" r:id="rId7"/>
    <p:sldId id="264" r:id="rId8"/>
    <p:sldId id="263" r:id="rId9"/>
    <p:sldId id="265" r:id="rId10"/>
    <p:sldId id="262" r:id="rId11"/>
    <p:sldId id="266" r:id="rId12"/>
    <p:sldId id="268" r:id="rId13"/>
    <p:sldId id="267" r:id="rId14"/>
    <p:sldId id="269" r:id="rId15"/>
    <p:sldId id="271" r:id="rId16"/>
    <p:sldId id="274" r:id="rId17"/>
    <p:sldId id="273" r:id="rId18"/>
    <p:sldId id="275" r:id="rId19"/>
    <p:sldId id="276"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5CBB73-B30A-400B-9779-887959631847}" type="datetimeFigureOut">
              <a:rPr lang="en-IN" smtClean="0"/>
              <a:t>08-05-2026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AD610-A7D9-437B-986F-B240C09DB0D1}" type="slidenum">
              <a:rPr lang="en-IN" smtClean="0"/>
              <a:t>‹#›</a:t>
            </a:fld>
            <a:endParaRPr lang="en-IN"/>
          </a:p>
        </p:txBody>
      </p:sp>
    </p:spTree>
    <p:extLst>
      <p:ext uri="{BB962C8B-B14F-4D97-AF65-F5344CB8AC3E}">
        <p14:creationId xmlns:p14="http://schemas.microsoft.com/office/powerpoint/2010/main" val="3291108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3603C-DC7F-0430-7363-35D1147B1E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AFD8D17-6B8B-E0D1-07EF-F541915FAF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51599B1-7EE2-9C4C-80E8-5135CE9760CC}"/>
              </a:ext>
            </a:extLst>
          </p:cNvPr>
          <p:cNvSpPr>
            <a:spLocks noGrp="1"/>
          </p:cNvSpPr>
          <p:nvPr>
            <p:ph type="dt" sz="half" idx="10"/>
          </p:nvPr>
        </p:nvSpPr>
        <p:spPr/>
        <p:txBody>
          <a:bodyPr/>
          <a:lstStyle/>
          <a:p>
            <a:fld id="{38BEE5F0-03B1-494A-A1AB-15104E3D2F23}" type="datetimeFigureOut">
              <a:rPr lang="en-IN" smtClean="0"/>
              <a:t>08-05-2026</a:t>
            </a:fld>
            <a:endParaRPr lang="en-IN"/>
          </a:p>
        </p:txBody>
      </p:sp>
      <p:sp>
        <p:nvSpPr>
          <p:cNvPr id="5" name="Footer Placeholder 4">
            <a:extLst>
              <a:ext uri="{FF2B5EF4-FFF2-40B4-BE49-F238E27FC236}">
                <a16:creationId xmlns:a16="http://schemas.microsoft.com/office/drawing/2014/main" id="{A24C7744-0A06-7A6D-05C3-B498B7938B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EE4F79-1C70-71E6-CC37-3FE22D92E7BD}"/>
              </a:ext>
            </a:extLst>
          </p:cNvPr>
          <p:cNvSpPr>
            <a:spLocks noGrp="1"/>
          </p:cNvSpPr>
          <p:nvPr>
            <p:ph type="sldNum" sz="quarter" idx="12"/>
          </p:nvPr>
        </p:nvSpPr>
        <p:spPr/>
        <p:txBody>
          <a:bodyPr/>
          <a:lstStyle/>
          <a:p>
            <a:fld id="{16ACB783-83D0-4BF2-921F-6BBB7893144E}" type="slidenum">
              <a:rPr lang="en-IN" smtClean="0"/>
              <a:t>‹#›</a:t>
            </a:fld>
            <a:endParaRPr lang="en-IN"/>
          </a:p>
        </p:txBody>
      </p:sp>
    </p:spTree>
    <p:extLst>
      <p:ext uri="{BB962C8B-B14F-4D97-AF65-F5344CB8AC3E}">
        <p14:creationId xmlns:p14="http://schemas.microsoft.com/office/powerpoint/2010/main" val="3694422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FF3A5-A318-FBA3-2739-991651CE54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9FA9D6-8379-5956-9E90-A387532AC4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689882-8170-5875-5A88-412BBAC97491}"/>
              </a:ext>
            </a:extLst>
          </p:cNvPr>
          <p:cNvSpPr>
            <a:spLocks noGrp="1"/>
          </p:cNvSpPr>
          <p:nvPr>
            <p:ph type="dt" sz="half" idx="10"/>
          </p:nvPr>
        </p:nvSpPr>
        <p:spPr/>
        <p:txBody>
          <a:bodyPr/>
          <a:lstStyle/>
          <a:p>
            <a:fld id="{38BEE5F0-03B1-494A-A1AB-15104E3D2F23}" type="datetimeFigureOut">
              <a:rPr lang="en-IN" smtClean="0"/>
              <a:t>08-05-2026</a:t>
            </a:fld>
            <a:endParaRPr lang="en-IN"/>
          </a:p>
        </p:txBody>
      </p:sp>
      <p:sp>
        <p:nvSpPr>
          <p:cNvPr id="5" name="Footer Placeholder 4">
            <a:extLst>
              <a:ext uri="{FF2B5EF4-FFF2-40B4-BE49-F238E27FC236}">
                <a16:creationId xmlns:a16="http://schemas.microsoft.com/office/drawing/2014/main" id="{D7035369-8035-2009-B6D1-83E9B0E4F0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1160F2-DDC2-14C7-D64D-BCD6632832E5}"/>
              </a:ext>
            </a:extLst>
          </p:cNvPr>
          <p:cNvSpPr>
            <a:spLocks noGrp="1"/>
          </p:cNvSpPr>
          <p:nvPr>
            <p:ph type="sldNum" sz="quarter" idx="12"/>
          </p:nvPr>
        </p:nvSpPr>
        <p:spPr/>
        <p:txBody>
          <a:bodyPr/>
          <a:lstStyle/>
          <a:p>
            <a:fld id="{16ACB783-83D0-4BF2-921F-6BBB7893144E}" type="slidenum">
              <a:rPr lang="en-IN" smtClean="0"/>
              <a:t>‹#›</a:t>
            </a:fld>
            <a:endParaRPr lang="en-IN"/>
          </a:p>
        </p:txBody>
      </p:sp>
    </p:spTree>
    <p:extLst>
      <p:ext uri="{BB962C8B-B14F-4D97-AF65-F5344CB8AC3E}">
        <p14:creationId xmlns:p14="http://schemas.microsoft.com/office/powerpoint/2010/main" val="4144122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05462-CCEC-9957-D4ED-01082AB746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A959FDF-8141-9748-B8B3-F791217D35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A3139F-01AF-7537-6625-51560E073116}"/>
              </a:ext>
            </a:extLst>
          </p:cNvPr>
          <p:cNvSpPr>
            <a:spLocks noGrp="1"/>
          </p:cNvSpPr>
          <p:nvPr>
            <p:ph type="dt" sz="half" idx="10"/>
          </p:nvPr>
        </p:nvSpPr>
        <p:spPr/>
        <p:txBody>
          <a:bodyPr/>
          <a:lstStyle/>
          <a:p>
            <a:fld id="{38BEE5F0-03B1-494A-A1AB-15104E3D2F23}" type="datetimeFigureOut">
              <a:rPr lang="en-IN" smtClean="0"/>
              <a:t>08-05-2026</a:t>
            </a:fld>
            <a:endParaRPr lang="en-IN"/>
          </a:p>
        </p:txBody>
      </p:sp>
      <p:sp>
        <p:nvSpPr>
          <p:cNvPr id="5" name="Footer Placeholder 4">
            <a:extLst>
              <a:ext uri="{FF2B5EF4-FFF2-40B4-BE49-F238E27FC236}">
                <a16:creationId xmlns:a16="http://schemas.microsoft.com/office/drawing/2014/main" id="{4503287B-4423-00AC-7716-8B1C0A7218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A03CE5-0E62-C684-CA14-497A91A9373E}"/>
              </a:ext>
            </a:extLst>
          </p:cNvPr>
          <p:cNvSpPr>
            <a:spLocks noGrp="1"/>
          </p:cNvSpPr>
          <p:nvPr>
            <p:ph type="sldNum" sz="quarter" idx="12"/>
          </p:nvPr>
        </p:nvSpPr>
        <p:spPr/>
        <p:txBody>
          <a:bodyPr/>
          <a:lstStyle/>
          <a:p>
            <a:fld id="{16ACB783-83D0-4BF2-921F-6BBB7893144E}" type="slidenum">
              <a:rPr lang="en-IN" smtClean="0"/>
              <a:t>‹#›</a:t>
            </a:fld>
            <a:endParaRPr lang="en-IN"/>
          </a:p>
        </p:txBody>
      </p:sp>
    </p:spTree>
    <p:extLst>
      <p:ext uri="{BB962C8B-B14F-4D97-AF65-F5344CB8AC3E}">
        <p14:creationId xmlns:p14="http://schemas.microsoft.com/office/powerpoint/2010/main" val="2171303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6525A-901D-8125-3197-538398A9C1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0E746C-2829-8F54-E9A3-52ECFBC3D1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1C9DBE-80EB-5D67-483A-CE81E29050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9A60BA5-42ED-6D21-BEC4-367CC873E143}"/>
              </a:ext>
            </a:extLst>
          </p:cNvPr>
          <p:cNvSpPr>
            <a:spLocks noGrp="1"/>
          </p:cNvSpPr>
          <p:nvPr>
            <p:ph type="dt" sz="half" idx="10"/>
          </p:nvPr>
        </p:nvSpPr>
        <p:spPr/>
        <p:txBody>
          <a:bodyPr/>
          <a:lstStyle/>
          <a:p>
            <a:fld id="{38BEE5F0-03B1-494A-A1AB-15104E3D2F23}" type="datetimeFigureOut">
              <a:rPr lang="en-IN" smtClean="0"/>
              <a:t>08-05-2026</a:t>
            </a:fld>
            <a:endParaRPr lang="en-IN"/>
          </a:p>
        </p:txBody>
      </p:sp>
      <p:sp>
        <p:nvSpPr>
          <p:cNvPr id="6" name="Footer Placeholder 5">
            <a:extLst>
              <a:ext uri="{FF2B5EF4-FFF2-40B4-BE49-F238E27FC236}">
                <a16:creationId xmlns:a16="http://schemas.microsoft.com/office/drawing/2014/main" id="{BC128736-356D-0E9D-54EC-AE67F94264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02BC18-AA94-918E-B5B5-036BCD41FDAA}"/>
              </a:ext>
            </a:extLst>
          </p:cNvPr>
          <p:cNvSpPr>
            <a:spLocks noGrp="1"/>
          </p:cNvSpPr>
          <p:nvPr>
            <p:ph type="sldNum" sz="quarter" idx="12"/>
          </p:nvPr>
        </p:nvSpPr>
        <p:spPr/>
        <p:txBody>
          <a:bodyPr/>
          <a:lstStyle/>
          <a:p>
            <a:fld id="{16ACB783-83D0-4BF2-921F-6BBB7893144E}" type="slidenum">
              <a:rPr lang="en-IN" smtClean="0"/>
              <a:t>‹#›</a:t>
            </a:fld>
            <a:endParaRPr lang="en-IN"/>
          </a:p>
        </p:txBody>
      </p:sp>
    </p:spTree>
    <p:extLst>
      <p:ext uri="{BB962C8B-B14F-4D97-AF65-F5344CB8AC3E}">
        <p14:creationId xmlns:p14="http://schemas.microsoft.com/office/powerpoint/2010/main" val="89419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8A34D-3D68-F871-CBEE-3E13CF4AEB9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3D769D-324D-4A74-B75F-05A7E3218B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F1AAAA-43E8-2FC3-3A20-AD54F35856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42746E-D8FF-EEEB-CA55-3935D054F6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55574E-1D9A-E93A-6ED8-66326E0345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C854D14-7A7C-E149-82F1-D6F776AC818F}"/>
              </a:ext>
            </a:extLst>
          </p:cNvPr>
          <p:cNvSpPr>
            <a:spLocks noGrp="1"/>
          </p:cNvSpPr>
          <p:nvPr>
            <p:ph type="dt" sz="half" idx="10"/>
          </p:nvPr>
        </p:nvSpPr>
        <p:spPr/>
        <p:txBody>
          <a:bodyPr/>
          <a:lstStyle/>
          <a:p>
            <a:fld id="{38BEE5F0-03B1-494A-A1AB-15104E3D2F23}" type="datetimeFigureOut">
              <a:rPr lang="en-IN" smtClean="0"/>
              <a:t>08-05-2026</a:t>
            </a:fld>
            <a:endParaRPr lang="en-IN"/>
          </a:p>
        </p:txBody>
      </p:sp>
      <p:sp>
        <p:nvSpPr>
          <p:cNvPr id="8" name="Footer Placeholder 7">
            <a:extLst>
              <a:ext uri="{FF2B5EF4-FFF2-40B4-BE49-F238E27FC236}">
                <a16:creationId xmlns:a16="http://schemas.microsoft.com/office/drawing/2014/main" id="{08EC76C1-CFBD-805A-7E7A-10A8DE06EA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58FC2B-BAD9-E6EE-FBB6-BA70FFB8F397}"/>
              </a:ext>
            </a:extLst>
          </p:cNvPr>
          <p:cNvSpPr>
            <a:spLocks noGrp="1"/>
          </p:cNvSpPr>
          <p:nvPr>
            <p:ph type="sldNum" sz="quarter" idx="12"/>
          </p:nvPr>
        </p:nvSpPr>
        <p:spPr/>
        <p:txBody>
          <a:bodyPr/>
          <a:lstStyle/>
          <a:p>
            <a:fld id="{16ACB783-83D0-4BF2-921F-6BBB7893144E}" type="slidenum">
              <a:rPr lang="en-IN" smtClean="0"/>
              <a:t>‹#›</a:t>
            </a:fld>
            <a:endParaRPr lang="en-IN"/>
          </a:p>
        </p:txBody>
      </p:sp>
    </p:spTree>
    <p:extLst>
      <p:ext uri="{BB962C8B-B14F-4D97-AF65-F5344CB8AC3E}">
        <p14:creationId xmlns:p14="http://schemas.microsoft.com/office/powerpoint/2010/main" val="987670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BE96D-CE92-779E-BA82-FAE227E24BC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3CD4C23-F82A-3889-732E-D55AA873A25E}"/>
              </a:ext>
            </a:extLst>
          </p:cNvPr>
          <p:cNvSpPr>
            <a:spLocks noGrp="1"/>
          </p:cNvSpPr>
          <p:nvPr>
            <p:ph type="dt" sz="half" idx="10"/>
          </p:nvPr>
        </p:nvSpPr>
        <p:spPr/>
        <p:txBody>
          <a:bodyPr/>
          <a:lstStyle/>
          <a:p>
            <a:fld id="{38BEE5F0-03B1-494A-A1AB-15104E3D2F23}" type="datetimeFigureOut">
              <a:rPr lang="en-IN" smtClean="0"/>
              <a:t>08-05-2026</a:t>
            </a:fld>
            <a:endParaRPr lang="en-IN"/>
          </a:p>
        </p:txBody>
      </p:sp>
      <p:sp>
        <p:nvSpPr>
          <p:cNvPr id="4" name="Footer Placeholder 3">
            <a:extLst>
              <a:ext uri="{FF2B5EF4-FFF2-40B4-BE49-F238E27FC236}">
                <a16:creationId xmlns:a16="http://schemas.microsoft.com/office/drawing/2014/main" id="{87E48D12-F8C5-E311-9C12-F36D3D80F97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9472915-2F8F-CF36-75C4-9B0F924ADFA9}"/>
              </a:ext>
            </a:extLst>
          </p:cNvPr>
          <p:cNvSpPr>
            <a:spLocks noGrp="1"/>
          </p:cNvSpPr>
          <p:nvPr>
            <p:ph type="sldNum" sz="quarter" idx="12"/>
          </p:nvPr>
        </p:nvSpPr>
        <p:spPr/>
        <p:txBody>
          <a:bodyPr/>
          <a:lstStyle/>
          <a:p>
            <a:fld id="{16ACB783-83D0-4BF2-921F-6BBB7893144E}" type="slidenum">
              <a:rPr lang="en-IN" smtClean="0"/>
              <a:t>‹#›</a:t>
            </a:fld>
            <a:endParaRPr lang="en-IN"/>
          </a:p>
        </p:txBody>
      </p:sp>
    </p:spTree>
    <p:extLst>
      <p:ext uri="{BB962C8B-B14F-4D97-AF65-F5344CB8AC3E}">
        <p14:creationId xmlns:p14="http://schemas.microsoft.com/office/powerpoint/2010/main" val="3174141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FDE80B-E345-5388-2C98-EBBE4BABE3E1}"/>
              </a:ext>
            </a:extLst>
          </p:cNvPr>
          <p:cNvSpPr>
            <a:spLocks noGrp="1"/>
          </p:cNvSpPr>
          <p:nvPr>
            <p:ph type="dt" sz="half" idx="10"/>
          </p:nvPr>
        </p:nvSpPr>
        <p:spPr/>
        <p:txBody>
          <a:bodyPr/>
          <a:lstStyle/>
          <a:p>
            <a:fld id="{38BEE5F0-03B1-494A-A1AB-15104E3D2F23}" type="datetimeFigureOut">
              <a:rPr lang="en-IN" smtClean="0"/>
              <a:t>08-05-2026</a:t>
            </a:fld>
            <a:endParaRPr lang="en-IN"/>
          </a:p>
        </p:txBody>
      </p:sp>
      <p:sp>
        <p:nvSpPr>
          <p:cNvPr id="3" name="Footer Placeholder 2">
            <a:extLst>
              <a:ext uri="{FF2B5EF4-FFF2-40B4-BE49-F238E27FC236}">
                <a16:creationId xmlns:a16="http://schemas.microsoft.com/office/drawing/2014/main" id="{3CAE905A-A8C2-D6AC-0672-C9688EE5C55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6776724-913D-A8EE-CE75-A71A1624AEB5}"/>
              </a:ext>
            </a:extLst>
          </p:cNvPr>
          <p:cNvSpPr>
            <a:spLocks noGrp="1"/>
          </p:cNvSpPr>
          <p:nvPr>
            <p:ph type="sldNum" sz="quarter" idx="12"/>
          </p:nvPr>
        </p:nvSpPr>
        <p:spPr/>
        <p:txBody>
          <a:bodyPr/>
          <a:lstStyle/>
          <a:p>
            <a:fld id="{16ACB783-83D0-4BF2-921F-6BBB7893144E}" type="slidenum">
              <a:rPr lang="en-IN" smtClean="0"/>
              <a:t>‹#›</a:t>
            </a:fld>
            <a:endParaRPr lang="en-IN"/>
          </a:p>
        </p:txBody>
      </p:sp>
    </p:spTree>
    <p:extLst>
      <p:ext uri="{BB962C8B-B14F-4D97-AF65-F5344CB8AC3E}">
        <p14:creationId xmlns:p14="http://schemas.microsoft.com/office/powerpoint/2010/main" val="1334238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3DA20-287A-5ABF-0A39-0AAA6460C1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4EA0CC9-6E55-0F7C-5547-DD259005A3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B76EA3A-B239-C05B-B13E-EA46A88620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D0B218-55A4-BFDA-B56C-815CD37B284D}"/>
              </a:ext>
            </a:extLst>
          </p:cNvPr>
          <p:cNvSpPr>
            <a:spLocks noGrp="1"/>
          </p:cNvSpPr>
          <p:nvPr>
            <p:ph type="dt" sz="half" idx="10"/>
          </p:nvPr>
        </p:nvSpPr>
        <p:spPr/>
        <p:txBody>
          <a:bodyPr/>
          <a:lstStyle/>
          <a:p>
            <a:fld id="{38BEE5F0-03B1-494A-A1AB-15104E3D2F23}" type="datetimeFigureOut">
              <a:rPr lang="en-IN" smtClean="0"/>
              <a:t>08-05-2026</a:t>
            </a:fld>
            <a:endParaRPr lang="en-IN"/>
          </a:p>
        </p:txBody>
      </p:sp>
      <p:sp>
        <p:nvSpPr>
          <p:cNvPr id="6" name="Footer Placeholder 5">
            <a:extLst>
              <a:ext uri="{FF2B5EF4-FFF2-40B4-BE49-F238E27FC236}">
                <a16:creationId xmlns:a16="http://schemas.microsoft.com/office/drawing/2014/main" id="{0F9FA075-96A0-A059-9384-8E119428AC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9279C9-A589-E56F-3527-EBA850833918}"/>
              </a:ext>
            </a:extLst>
          </p:cNvPr>
          <p:cNvSpPr>
            <a:spLocks noGrp="1"/>
          </p:cNvSpPr>
          <p:nvPr>
            <p:ph type="sldNum" sz="quarter" idx="12"/>
          </p:nvPr>
        </p:nvSpPr>
        <p:spPr/>
        <p:txBody>
          <a:bodyPr/>
          <a:lstStyle/>
          <a:p>
            <a:fld id="{16ACB783-83D0-4BF2-921F-6BBB7893144E}" type="slidenum">
              <a:rPr lang="en-IN" smtClean="0"/>
              <a:t>‹#›</a:t>
            </a:fld>
            <a:endParaRPr lang="en-IN"/>
          </a:p>
        </p:txBody>
      </p:sp>
    </p:spTree>
    <p:extLst>
      <p:ext uri="{BB962C8B-B14F-4D97-AF65-F5344CB8AC3E}">
        <p14:creationId xmlns:p14="http://schemas.microsoft.com/office/powerpoint/2010/main" val="2224564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61839-E5F7-6236-EA51-1DD31D5B1B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2F47E2-E236-0075-6075-F7F27009F9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4E9D35F-ABCD-42F8-3968-93A5C799C2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19B041-6A7B-FBCA-BD57-C30082A924D1}"/>
              </a:ext>
            </a:extLst>
          </p:cNvPr>
          <p:cNvSpPr>
            <a:spLocks noGrp="1"/>
          </p:cNvSpPr>
          <p:nvPr>
            <p:ph type="dt" sz="half" idx="10"/>
          </p:nvPr>
        </p:nvSpPr>
        <p:spPr/>
        <p:txBody>
          <a:bodyPr/>
          <a:lstStyle/>
          <a:p>
            <a:fld id="{38BEE5F0-03B1-494A-A1AB-15104E3D2F23}" type="datetimeFigureOut">
              <a:rPr lang="en-IN" smtClean="0"/>
              <a:t>08-05-2026</a:t>
            </a:fld>
            <a:endParaRPr lang="en-IN"/>
          </a:p>
        </p:txBody>
      </p:sp>
      <p:sp>
        <p:nvSpPr>
          <p:cNvPr id="6" name="Footer Placeholder 5">
            <a:extLst>
              <a:ext uri="{FF2B5EF4-FFF2-40B4-BE49-F238E27FC236}">
                <a16:creationId xmlns:a16="http://schemas.microsoft.com/office/drawing/2014/main" id="{81027B52-ABE3-C8B2-2F42-50F2898B5A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F91AD5-312D-0D3F-9E2D-94A6A71143B4}"/>
              </a:ext>
            </a:extLst>
          </p:cNvPr>
          <p:cNvSpPr>
            <a:spLocks noGrp="1"/>
          </p:cNvSpPr>
          <p:nvPr>
            <p:ph type="sldNum" sz="quarter" idx="12"/>
          </p:nvPr>
        </p:nvSpPr>
        <p:spPr/>
        <p:txBody>
          <a:bodyPr/>
          <a:lstStyle/>
          <a:p>
            <a:fld id="{16ACB783-83D0-4BF2-921F-6BBB7893144E}" type="slidenum">
              <a:rPr lang="en-IN" smtClean="0"/>
              <a:t>‹#›</a:t>
            </a:fld>
            <a:endParaRPr lang="en-IN"/>
          </a:p>
        </p:txBody>
      </p:sp>
    </p:spTree>
    <p:extLst>
      <p:ext uri="{BB962C8B-B14F-4D97-AF65-F5344CB8AC3E}">
        <p14:creationId xmlns:p14="http://schemas.microsoft.com/office/powerpoint/2010/main" val="2235349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89583-FA7D-B922-4FB2-8F1CB8CF145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811EA6-A1E4-C962-E7F3-DACA16FACC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F6E5EA-2BF9-31A4-E41D-D7AB3EAEFD22}"/>
              </a:ext>
            </a:extLst>
          </p:cNvPr>
          <p:cNvSpPr>
            <a:spLocks noGrp="1"/>
          </p:cNvSpPr>
          <p:nvPr>
            <p:ph type="dt" sz="half" idx="10"/>
          </p:nvPr>
        </p:nvSpPr>
        <p:spPr/>
        <p:txBody>
          <a:bodyPr/>
          <a:lstStyle/>
          <a:p>
            <a:fld id="{38BEE5F0-03B1-494A-A1AB-15104E3D2F23}" type="datetimeFigureOut">
              <a:rPr lang="en-IN" smtClean="0"/>
              <a:t>08-05-2026</a:t>
            </a:fld>
            <a:endParaRPr lang="en-IN"/>
          </a:p>
        </p:txBody>
      </p:sp>
      <p:sp>
        <p:nvSpPr>
          <p:cNvPr id="5" name="Footer Placeholder 4">
            <a:extLst>
              <a:ext uri="{FF2B5EF4-FFF2-40B4-BE49-F238E27FC236}">
                <a16:creationId xmlns:a16="http://schemas.microsoft.com/office/drawing/2014/main" id="{1B27951A-0A2B-A35A-29C8-3AEA433B7F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1C0632-D0B0-8AB2-881B-04FDE92E3181}"/>
              </a:ext>
            </a:extLst>
          </p:cNvPr>
          <p:cNvSpPr>
            <a:spLocks noGrp="1"/>
          </p:cNvSpPr>
          <p:nvPr>
            <p:ph type="sldNum" sz="quarter" idx="12"/>
          </p:nvPr>
        </p:nvSpPr>
        <p:spPr/>
        <p:txBody>
          <a:bodyPr/>
          <a:lstStyle/>
          <a:p>
            <a:fld id="{16ACB783-83D0-4BF2-921F-6BBB7893144E}" type="slidenum">
              <a:rPr lang="en-IN" smtClean="0"/>
              <a:t>‹#›</a:t>
            </a:fld>
            <a:endParaRPr lang="en-IN"/>
          </a:p>
        </p:txBody>
      </p:sp>
    </p:spTree>
    <p:extLst>
      <p:ext uri="{BB962C8B-B14F-4D97-AF65-F5344CB8AC3E}">
        <p14:creationId xmlns:p14="http://schemas.microsoft.com/office/powerpoint/2010/main" val="1136709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AC98FA-CB4F-D5AD-F6F9-F50F04BCF1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57687C-340D-9C16-77DF-A657F8D856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E2B88F-EEC4-EE86-5ADE-CD47FF00D3A9}"/>
              </a:ext>
            </a:extLst>
          </p:cNvPr>
          <p:cNvSpPr>
            <a:spLocks noGrp="1"/>
          </p:cNvSpPr>
          <p:nvPr>
            <p:ph type="dt" sz="half" idx="10"/>
          </p:nvPr>
        </p:nvSpPr>
        <p:spPr/>
        <p:txBody>
          <a:bodyPr/>
          <a:lstStyle/>
          <a:p>
            <a:fld id="{38BEE5F0-03B1-494A-A1AB-15104E3D2F23}" type="datetimeFigureOut">
              <a:rPr lang="en-IN" smtClean="0"/>
              <a:t>08-05-2026</a:t>
            </a:fld>
            <a:endParaRPr lang="en-IN"/>
          </a:p>
        </p:txBody>
      </p:sp>
      <p:sp>
        <p:nvSpPr>
          <p:cNvPr id="5" name="Footer Placeholder 4">
            <a:extLst>
              <a:ext uri="{FF2B5EF4-FFF2-40B4-BE49-F238E27FC236}">
                <a16:creationId xmlns:a16="http://schemas.microsoft.com/office/drawing/2014/main" id="{2FC3A1BE-36E7-6C70-85AC-5AD9977BF3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99D0CA-C95C-9D8A-2475-592B7FA765D0}"/>
              </a:ext>
            </a:extLst>
          </p:cNvPr>
          <p:cNvSpPr>
            <a:spLocks noGrp="1"/>
          </p:cNvSpPr>
          <p:nvPr>
            <p:ph type="sldNum" sz="quarter" idx="12"/>
          </p:nvPr>
        </p:nvSpPr>
        <p:spPr/>
        <p:txBody>
          <a:bodyPr/>
          <a:lstStyle/>
          <a:p>
            <a:fld id="{16ACB783-83D0-4BF2-921F-6BBB7893144E}" type="slidenum">
              <a:rPr lang="en-IN" smtClean="0"/>
              <a:t>‹#›</a:t>
            </a:fld>
            <a:endParaRPr lang="en-IN"/>
          </a:p>
        </p:txBody>
      </p:sp>
    </p:spTree>
    <p:extLst>
      <p:ext uri="{BB962C8B-B14F-4D97-AF65-F5344CB8AC3E}">
        <p14:creationId xmlns:p14="http://schemas.microsoft.com/office/powerpoint/2010/main" val="775018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475A75-2C7B-8638-162D-843E646ACD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9C84E3-AA68-544A-5398-4EEDCBB905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32DB0A-D056-805D-83B8-6BAF24805F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BEE5F0-03B1-494A-A1AB-15104E3D2F23}" type="datetimeFigureOut">
              <a:rPr lang="en-IN" smtClean="0"/>
              <a:t>08-05-2026</a:t>
            </a:fld>
            <a:endParaRPr lang="en-IN"/>
          </a:p>
        </p:txBody>
      </p:sp>
      <p:sp>
        <p:nvSpPr>
          <p:cNvPr id="5" name="Footer Placeholder 4">
            <a:extLst>
              <a:ext uri="{FF2B5EF4-FFF2-40B4-BE49-F238E27FC236}">
                <a16:creationId xmlns:a16="http://schemas.microsoft.com/office/drawing/2014/main" id="{5E597376-4A4A-8E8A-9D3F-0FC38FC435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6CA54D-2F53-9E9A-85FC-F6DA9FCF9C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ACB783-83D0-4BF2-921F-6BBB7893144E}" type="slidenum">
              <a:rPr lang="en-IN" smtClean="0"/>
              <a:t>‹#›</a:t>
            </a:fld>
            <a:endParaRPr lang="en-IN"/>
          </a:p>
        </p:txBody>
      </p:sp>
    </p:spTree>
    <p:extLst>
      <p:ext uri="{BB962C8B-B14F-4D97-AF65-F5344CB8AC3E}">
        <p14:creationId xmlns:p14="http://schemas.microsoft.com/office/powerpoint/2010/main" val="2553173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F2C2D-52E2-12B0-A446-370A3910DF30}"/>
              </a:ext>
            </a:extLst>
          </p:cNvPr>
          <p:cNvSpPr>
            <a:spLocks noGrp="1"/>
          </p:cNvSpPr>
          <p:nvPr>
            <p:ph type="title"/>
          </p:nvPr>
        </p:nvSpPr>
        <p:spPr>
          <a:xfrm>
            <a:off x="543233" y="315963"/>
            <a:ext cx="10515600" cy="1325563"/>
          </a:xfrm>
        </p:spPr>
        <p:txBody>
          <a:bodyPr/>
          <a:lstStyle/>
          <a:p>
            <a:pPr algn="ctr"/>
            <a:r>
              <a:rPr lang="en-IN" b="1" dirty="0"/>
              <a:t>FMD Framework</a:t>
            </a:r>
          </a:p>
        </p:txBody>
      </p:sp>
      <p:sp>
        <p:nvSpPr>
          <p:cNvPr id="4" name="TextBox 3">
            <a:extLst>
              <a:ext uri="{FF2B5EF4-FFF2-40B4-BE49-F238E27FC236}">
                <a16:creationId xmlns:a16="http://schemas.microsoft.com/office/drawing/2014/main" id="{4B19414E-038E-19D4-4B95-7E10B6D21071}"/>
              </a:ext>
            </a:extLst>
          </p:cNvPr>
          <p:cNvSpPr txBox="1"/>
          <p:nvPr/>
        </p:nvSpPr>
        <p:spPr>
          <a:xfrm>
            <a:off x="629265" y="1553497"/>
            <a:ext cx="11169445" cy="1200329"/>
          </a:xfrm>
          <a:prstGeom prst="rect">
            <a:avLst/>
          </a:prstGeom>
          <a:noFill/>
        </p:spPr>
        <p:txBody>
          <a:bodyPr wrap="square">
            <a:spAutoFit/>
          </a:bodyPr>
          <a:lstStyle/>
          <a:p>
            <a:r>
              <a:rPr lang="en-IN" dirty="0"/>
              <a:t>The FMD Framework enables organizations to streamline data operations by leveraging metadata to drive dynamic data pipelines and parameterized notebooks. Built on Fabric SQL Database, the framework supports secure, flexible, and modern data management at scale.</a:t>
            </a:r>
          </a:p>
          <a:p>
            <a:endParaRPr lang="en-IN" dirty="0"/>
          </a:p>
        </p:txBody>
      </p:sp>
    </p:spTree>
    <p:extLst>
      <p:ext uri="{BB962C8B-B14F-4D97-AF65-F5344CB8AC3E}">
        <p14:creationId xmlns:p14="http://schemas.microsoft.com/office/powerpoint/2010/main" val="4255288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68C0BB6A-0798-E333-253F-B2C32341272B}"/>
              </a:ext>
            </a:extLst>
          </p:cNvPr>
          <p:cNvGraphicFramePr>
            <a:graphicFrameLocks noGrp="1"/>
          </p:cNvGraphicFramePr>
          <p:nvPr>
            <p:extLst>
              <p:ext uri="{D42A27DB-BD31-4B8C-83A1-F6EECF244321}">
                <p14:modId xmlns:p14="http://schemas.microsoft.com/office/powerpoint/2010/main" val="1228835718"/>
              </p:ext>
            </p:extLst>
          </p:nvPr>
        </p:nvGraphicFramePr>
        <p:xfrm>
          <a:off x="1396181" y="1828800"/>
          <a:ext cx="9468465" cy="3092232"/>
        </p:xfrm>
        <a:graphic>
          <a:graphicData uri="http://schemas.openxmlformats.org/drawingml/2006/table">
            <a:tbl>
              <a:tblPr>
                <a:tableStyleId>{5C22544A-7EE6-4342-B048-85BDC9FD1C3A}</a:tableStyleId>
              </a:tblPr>
              <a:tblGrid>
                <a:gridCol w="3156155">
                  <a:extLst>
                    <a:ext uri="{9D8B030D-6E8A-4147-A177-3AD203B41FA5}">
                      <a16:colId xmlns:a16="http://schemas.microsoft.com/office/drawing/2014/main" val="2371439405"/>
                    </a:ext>
                  </a:extLst>
                </a:gridCol>
                <a:gridCol w="3156155">
                  <a:extLst>
                    <a:ext uri="{9D8B030D-6E8A-4147-A177-3AD203B41FA5}">
                      <a16:colId xmlns:a16="http://schemas.microsoft.com/office/drawing/2014/main" val="2603602318"/>
                    </a:ext>
                  </a:extLst>
                </a:gridCol>
                <a:gridCol w="3156155">
                  <a:extLst>
                    <a:ext uri="{9D8B030D-6E8A-4147-A177-3AD203B41FA5}">
                      <a16:colId xmlns:a16="http://schemas.microsoft.com/office/drawing/2014/main" val="1529644697"/>
                    </a:ext>
                  </a:extLst>
                </a:gridCol>
              </a:tblGrid>
              <a:tr h="568852">
                <a:tc>
                  <a:txBody>
                    <a:bodyPr/>
                    <a:lstStyle/>
                    <a:p>
                      <a:pPr algn="l" fontAlgn="b">
                        <a:buNone/>
                      </a:pPr>
                      <a:r>
                        <a:rPr lang="en-IN" sz="1600" b="1" u="none" strike="noStrike" dirty="0">
                          <a:effectLst/>
                        </a:rPr>
                        <a:t>Workspace Type</a:t>
                      </a:r>
                      <a:endParaRPr lang="en-IN"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600" b="1" u="none" strike="noStrike" dirty="0">
                          <a:effectLst/>
                        </a:rPr>
                        <a:t>Purpose</a:t>
                      </a:r>
                      <a:endParaRPr lang="en-IN"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600" b="1" u="none" strike="noStrike" dirty="0">
                          <a:effectLst/>
                        </a:rPr>
                        <a:t>Examples</a:t>
                      </a:r>
                      <a:endParaRPr lang="en-IN" sz="16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48136886"/>
                  </a:ext>
                </a:extLst>
              </a:tr>
              <a:tr h="872269">
                <a:tc>
                  <a:txBody>
                    <a:bodyPr/>
                    <a:lstStyle/>
                    <a:p>
                      <a:pPr algn="l" fontAlgn="b">
                        <a:buNone/>
                      </a:pPr>
                      <a:r>
                        <a:rPr lang="en-IN" sz="1600" u="none" strike="noStrike" dirty="0">
                          <a:effectLst/>
                        </a:rPr>
                        <a:t>Data</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600" u="none" strike="noStrike" dirty="0">
                          <a:effectLst/>
                        </a:rPr>
                        <a:t>Manage and store data</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it-IT" sz="1600" u="none" strike="noStrike" dirty="0">
                          <a:effectLst/>
                        </a:rPr>
                        <a:t>Data Landing Zone, Bronze, Silver,Gold,Semantic Model,DataFlows</a:t>
                      </a:r>
                    </a:p>
                  </a:txBody>
                  <a:tcPr marL="7620" marR="7620" marT="7620" marB="0" anchor="b"/>
                </a:tc>
                <a:extLst>
                  <a:ext uri="{0D108BD9-81ED-4DB2-BD59-A6C34878D82A}">
                    <a16:rowId xmlns:a16="http://schemas.microsoft.com/office/drawing/2014/main" val="1804981961"/>
                  </a:ext>
                </a:extLst>
              </a:tr>
              <a:tr h="1066601">
                <a:tc>
                  <a:txBody>
                    <a:bodyPr/>
                    <a:lstStyle/>
                    <a:p>
                      <a:pPr algn="l" fontAlgn="b">
                        <a:buNone/>
                      </a:pPr>
                      <a:r>
                        <a:rPr lang="en-IN" sz="1600" u="none" strike="noStrike" dirty="0">
                          <a:effectLst/>
                        </a:rPr>
                        <a:t>Code</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600" u="none" strike="noStrike" dirty="0">
                          <a:effectLst/>
                        </a:rPr>
                        <a:t>Develop and manage code artifacts</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600" u="none" strike="noStrike" dirty="0">
                          <a:effectLst/>
                        </a:rPr>
                        <a:t>Data Pipelines, Notebooks, Spark Environment, Variable Library, Data Build Tools</a:t>
                      </a:r>
                      <a:endParaRPr lang="en-US"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33275585"/>
                  </a:ext>
                </a:extLst>
              </a:tr>
              <a:tr h="584510">
                <a:tc>
                  <a:txBody>
                    <a:bodyPr/>
                    <a:lstStyle/>
                    <a:p>
                      <a:pPr algn="l" fontAlgn="b">
                        <a:buNone/>
                      </a:pPr>
                      <a:r>
                        <a:rPr lang="en-IN" sz="1600" u="none" strike="noStrike" dirty="0">
                          <a:effectLst/>
                        </a:rPr>
                        <a:t>Orchestration &amp; logging</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600" u="none" strike="noStrike" dirty="0">
                          <a:effectLst/>
                        </a:rPr>
                        <a:t>Orchestrate and monitor data operations</a:t>
                      </a:r>
                      <a:endParaRPr lang="en-IN"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600" u="none" strike="noStrike" dirty="0">
                          <a:effectLst/>
                        </a:rPr>
                        <a:t>Fabric SQL Database, Auditing, Logging</a:t>
                      </a:r>
                      <a:endParaRPr lang="en-US"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58536216"/>
                  </a:ext>
                </a:extLst>
              </a:tr>
            </a:tbl>
          </a:graphicData>
        </a:graphic>
      </p:graphicFrame>
    </p:spTree>
    <p:extLst>
      <p:ext uri="{BB962C8B-B14F-4D97-AF65-F5344CB8AC3E}">
        <p14:creationId xmlns:p14="http://schemas.microsoft.com/office/powerpoint/2010/main" val="1652871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descr="Integration domain architecture overview">
            <a:extLst>
              <a:ext uri="{FF2B5EF4-FFF2-40B4-BE49-F238E27FC236}">
                <a16:creationId xmlns:a16="http://schemas.microsoft.com/office/drawing/2014/main" id="{56AEE958-F791-3C14-A017-F4649A8AC59B}"/>
              </a:ext>
            </a:extLst>
          </p:cNvPr>
          <p:cNvSpPr>
            <a:spLocks noChangeAspect="1" noChangeArrowheads="1"/>
          </p:cNvSpPr>
          <p:nvPr/>
        </p:nvSpPr>
        <p:spPr bwMode="auto">
          <a:xfrm>
            <a:off x="5943600" y="-533400"/>
            <a:ext cx="4114800" cy="411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84ECAEAE-A162-718A-59A2-9D25C14F1AC9}"/>
              </a:ext>
            </a:extLst>
          </p:cNvPr>
          <p:cNvPicPr>
            <a:picLocks noChangeAspect="1"/>
          </p:cNvPicPr>
          <p:nvPr/>
        </p:nvPicPr>
        <p:blipFill>
          <a:blip r:embed="rId2"/>
          <a:stretch>
            <a:fillRect/>
          </a:stretch>
        </p:blipFill>
        <p:spPr>
          <a:xfrm>
            <a:off x="969964" y="157317"/>
            <a:ext cx="9796359" cy="5948442"/>
          </a:xfrm>
          <a:prstGeom prst="rect">
            <a:avLst/>
          </a:prstGeom>
        </p:spPr>
      </p:pic>
    </p:spTree>
    <p:extLst>
      <p:ext uri="{BB962C8B-B14F-4D97-AF65-F5344CB8AC3E}">
        <p14:creationId xmlns:p14="http://schemas.microsoft.com/office/powerpoint/2010/main" val="512306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7CB22-05AB-F0AD-7F45-B6D34B6A3355}"/>
              </a:ext>
            </a:extLst>
          </p:cNvPr>
          <p:cNvSpPr>
            <a:spLocks noGrp="1"/>
          </p:cNvSpPr>
          <p:nvPr>
            <p:ph type="title"/>
          </p:nvPr>
        </p:nvSpPr>
        <p:spPr/>
        <p:txBody>
          <a:bodyPr/>
          <a:lstStyle/>
          <a:p>
            <a:pPr algn="ctr"/>
            <a:r>
              <a:rPr lang="en-IN" b="1" dirty="0"/>
              <a:t>FMD Data Pipelines overview</a:t>
            </a:r>
          </a:p>
        </p:txBody>
      </p:sp>
      <p:sp>
        <p:nvSpPr>
          <p:cNvPr id="3" name="Content Placeholder 2">
            <a:extLst>
              <a:ext uri="{FF2B5EF4-FFF2-40B4-BE49-F238E27FC236}">
                <a16:creationId xmlns:a16="http://schemas.microsoft.com/office/drawing/2014/main" id="{019EFBD5-8D08-74B7-1012-BF4655CC3CF1}"/>
              </a:ext>
            </a:extLst>
          </p:cNvPr>
          <p:cNvSpPr>
            <a:spLocks noGrp="1"/>
          </p:cNvSpPr>
          <p:nvPr>
            <p:ph idx="1"/>
          </p:nvPr>
        </p:nvSpPr>
        <p:spPr/>
        <p:txBody>
          <a:bodyPr>
            <a:normAutofit/>
          </a:bodyPr>
          <a:lstStyle/>
          <a:p>
            <a:pPr marL="0" indent="0">
              <a:buNone/>
            </a:pPr>
            <a:r>
              <a:rPr lang="en-US" b="1" dirty="0">
                <a:solidFill>
                  <a:schemeClr val="accent5">
                    <a:lumMod val="75000"/>
                  </a:schemeClr>
                </a:solidFill>
              </a:rPr>
              <a:t>LOAD_ALL</a:t>
            </a:r>
          </a:p>
          <a:p>
            <a:r>
              <a:rPr lang="en-US" dirty="0"/>
              <a:t>Coordinates the execution of the </a:t>
            </a:r>
            <a:r>
              <a:rPr lang="en-US" dirty="0" err="1"/>
              <a:t>Landingzone</a:t>
            </a:r>
            <a:r>
              <a:rPr lang="en-US" dirty="0"/>
              <a:t>, Bronze, and Silver pipelines. Use this pipeline to initiate a complete data load across all layers.</a:t>
            </a:r>
          </a:p>
          <a:p>
            <a:r>
              <a:rPr lang="en-US" dirty="0"/>
              <a:t>Parameters:</a:t>
            </a:r>
          </a:p>
          <a:p>
            <a:pPr lvl="1"/>
            <a:r>
              <a:rPr lang="en-US" dirty="0" err="1"/>
              <a:t>ConnectionString</a:t>
            </a:r>
            <a:r>
              <a:rPr lang="en-US" dirty="0"/>
              <a:t> : </a:t>
            </a:r>
            <a:r>
              <a:rPr lang="en-US" dirty="0" err="1"/>
              <a:t>ConnectionString</a:t>
            </a:r>
            <a:r>
              <a:rPr lang="en-US" dirty="0"/>
              <a:t> of the Configuration Database (Automatically set during deployment)</a:t>
            </a:r>
          </a:p>
          <a:p>
            <a:pPr lvl="1"/>
            <a:r>
              <a:rPr lang="en-US" dirty="0"/>
              <a:t>Database name: Name of the Configuration Database (Automatically set during deployment)</a:t>
            </a:r>
            <a:endParaRPr lang="en-IN" dirty="0"/>
          </a:p>
        </p:txBody>
      </p:sp>
    </p:spTree>
    <p:extLst>
      <p:ext uri="{BB962C8B-B14F-4D97-AF65-F5344CB8AC3E}">
        <p14:creationId xmlns:p14="http://schemas.microsoft.com/office/powerpoint/2010/main" val="1498555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4" descr="FMD pipeline data flow overview">
            <a:extLst>
              <a:ext uri="{FF2B5EF4-FFF2-40B4-BE49-F238E27FC236}">
                <a16:creationId xmlns:a16="http://schemas.microsoft.com/office/drawing/2014/main" id="{92C94BB7-A0DD-B2F0-EAF0-EEC9E73AFFF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CB7DD19F-F128-B87A-7CF6-EAC967C95F7A}"/>
              </a:ext>
            </a:extLst>
          </p:cNvPr>
          <p:cNvPicPr>
            <a:picLocks noChangeAspect="1"/>
          </p:cNvPicPr>
          <p:nvPr/>
        </p:nvPicPr>
        <p:blipFill>
          <a:blip r:embed="rId2"/>
          <a:stretch>
            <a:fillRect/>
          </a:stretch>
        </p:blipFill>
        <p:spPr>
          <a:xfrm>
            <a:off x="627085" y="298742"/>
            <a:ext cx="10633030" cy="5955715"/>
          </a:xfrm>
          <a:prstGeom prst="rect">
            <a:avLst/>
          </a:prstGeom>
        </p:spPr>
      </p:pic>
    </p:spTree>
    <p:extLst>
      <p:ext uri="{BB962C8B-B14F-4D97-AF65-F5344CB8AC3E}">
        <p14:creationId xmlns:p14="http://schemas.microsoft.com/office/powerpoint/2010/main" val="1957064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2402B-95DF-A5A2-DAE0-A5F924D57D34}"/>
              </a:ext>
            </a:extLst>
          </p:cNvPr>
          <p:cNvSpPr>
            <a:spLocks noGrp="1"/>
          </p:cNvSpPr>
          <p:nvPr>
            <p:ph type="title"/>
          </p:nvPr>
        </p:nvSpPr>
        <p:spPr>
          <a:xfrm>
            <a:off x="838200" y="365125"/>
            <a:ext cx="9023555" cy="1994617"/>
          </a:xfrm>
        </p:spPr>
        <p:txBody>
          <a:bodyPr>
            <a:normAutofit/>
          </a:bodyPr>
          <a:lstStyle/>
          <a:p>
            <a:r>
              <a:rPr lang="en-US" sz="2800" b="1" dirty="0"/>
              <a:t>LOAD_LANDINGZONE</a:t>
            </a:r>
            <a:br>
              <a:rPr lang="en-US" sz="2800" b="1" dirty="0"/>
            </a:br>
            <a:endParaRPr lang="en-IN" sz="2800" b="1" dirty="0"/>
          </a:p>
        </p:txBody>
      </p:sp>
      <p:sp>
        <p:nvSpPr>
          <p:cNvPr id="3" name="Content Placeholder 2">
            <a:extLst>
              <a:ext uri="{FF2B5EF4-FFF2-40B4-BE49-F238E27FC236}">
                <a16:creationId xmlns:a16="http://schemas.microsoft.com/office/drawing/2014/main" id="{3812AA37-410E-D740-42C5-DE83BC78D963}"/>
              </a:ext>
            </a:extLst>
          </p:cNvPr>
          <p:cNvSpPr>
            <a:spLocks noGrp="1"/>
          </p:cNvSpPr>
          <p:nvPr>
            <p:ph idx="1"/>
          </p:nvPr>
        </p:nvSpPr>
        <p:spPr/>
        <p:txBody>
          <a:bodyPr/>
          <a:lstStyle/>
          <a:p>
            <a:endParaRPr lang="en-US" dirty="0"/>
          </a:p>
          <a:p>
            <a:r>
              <a:rPr lang="en-US" dirty="0"/>
              <a:t>Determines which command pipeline to execute based on the supported connection types for the data </a:t>
            </a:r>
            <a:r>
              <a:rPr lang="en-US" dirty="0" err="1"/>
              <a:t>Landingzone</a:t>
            </a:r>
            <a:r>
              <a:rPr lang="en-US" dirty="0"/>
              <a:t>. Enables flexible integration with various data sources.</a:t>
            </a:r>
            <a:endParaRPr lang="en-IN" dirty="0"/>
          </a:p>
        </p:txBody>
      </p:sp>
    </p:spTree>
    <p:extLst>
      <p:ext uri="{BB962C8B-B14F-4D97-AF65-F5344CB8AC3E}">
        <p14:creationId xmlns:p14="http://schemas.microsoft.com/office/powerpoint/2010/main" val="2656061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3509573-2B00-7D95-9749-21715D7130F9}"/>
              </a:ext>
            </a:extLst>
          </p:cNvPr>
          <p:cNvPicPr>
            <a:picLocks noChangeAspect="1"/>
          </p:cNvPicPr>
          <p:nvPr/>
        </p:nvPicPr>
        <p:blipFill>
          <a:blip r:embed="rId2"/>
          <a:stretch>
            <a:fillRect/>
          </a:stretch>
        </p:blipFill>
        <p:spPr>
          <a:xfrm>
            <a:off x="241108" y="414286"/>
            <a:ext cx="11395152" cy="5431712"/>
          </a:xfrm>
          <a:prstGeom prst="rect">
            <a:avLst/>
          </a:prstGeom>
        </p:spPr>
      </p:pic>
    </p:spTree>
    <p:extLst>
      <p:ext uri="{BB962C8B-B14F-4D97-AF65-F5344CB8AC3E}">
        <p14:creationId xmlns:p14="http://schemas.microsoft.com/office/powerpoint/2010/main" val="2331344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9473D-B65E-72E7-FFF7-9F7A5928855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75172D1-70BA-4E91-40DB-1D51410962C8}"/>
              </a:ext>
            </a:extLst>
          </p:cNvPr>
          <p:cNvSpPr>
            <a:spLocks noGrp="1"/>
          </p:cNvSpPr>
          <p:nvPr>
            <p:ph idx="1"/>
          </p:nvPr>
        </p:nvSpPr>
        <p:spPr>
          <a:xfrm>
            <a:off x="838200" y="1825625"/>
            <a:ext cx="6132871" cy="4351338"/>
          </a:xfrm>
        </p:spPr>
        <p:txBody>
          <a:bodyPr/>
          <a:lstStyle/>
          <a:p>
            <a:pPr marL="0" indent="0">
              <a:buNone/>
            </a:pPr>
            <a:r>
              <a:rPr lang="en-US" b="1" dirty="0"/>
              <a:t>LOAD_BRONZE</a:t>
            </a:r>
          </a:p>
          <a:p>
            <a:r>
              <a:rPr lang="en-US" dirty="0"/>
              <a:t>Manages the execution of NB_FMD_LOAD_LANDING_BRONZE through NB_FMD_PROCESSING_PARALLEL_MAIN. This notebook receives all entities to be processed, handles parallel processing, and manages retries. The default timeout is set to 7200 seconds, with 2 retries.</a:t>
            </a:r>
            <a:endParaRPr lang="en-IN" dirty="0"/>
          </a:p>
        </p:txBody>
      </p:sp>
      <p:pic>
        <p:nvPicPr>
          <p:cNvPr id="5" name="Picture 4">
            <a:extLst>
              <a:ext uri="{FF2B5EF4-FFF2-40B4-BE49-F238E27FC236}">
                <a16:creationId xmlns:a16="http://schemas.microsoft.com/office/drawing/2014/main" id="{8CF0D40C-6363-6D4D-E9AF-17E25258D247}"/>
              </a:ext>
            </a:extLst>
          </p:cNvPr>
          <p:cNvPicPr>
            <a:picLocks noChangeAspect="1"/>
          </p:cNvPicPr>
          <p:nvPr/>
        </p:nvPicPr>
        <p:blipFill>
          <a:blip r:embed="rId2"/>
          <a:stretch>
            <a:fillRect/>
          </a:stretch>
        </p:blipFill>
        <p:spPr>
          <a:xfrm>
            <a:off x="7338116" y="365125"/>
            <a:ext cx="4359018" cy="5464013"/>
          </a:xfrm>
          <a:prstGeom prst="rect">
            <a:avLst/>
          </a:prstGeom>
        </p:spPr>
      </p:pic>
    </p:spTree>
    <p:extLst>
      <p:ext uri="{BB962C8B-B14F-4D97-AF65-F5344CB8AC3E}">
        <p14:creationId xmlns:p14="http://schemas.microsoft.com/office/powerpoint/2010/main" val="3388510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BAC872-F220-97DE-9F74-39DA4B3B3864}"/>
              </a:ext>
            </a:extLst>
          </p:cNvPr>
          <p:cNvPicPr>
            <a:picLocks noChangeAspect="1"/>
          </p:cNvPicPr>
          <p:nvPr/>
        </p:nvPicPr>
        <p:blipFill>
          <a:blip r:embed="rId2"/>
          <a:stretch>
            <a:fillRect/>
          </a:stretch>
        </p:blipFill>
        <p:spPr>
          <a:xfrm>
            <a:off x="570271" y="500115"/>
            <a:ext cx="11051458" cy="5541509"/>
          </a:xfrm>
          <a:prstGeom prst="rect">
            <a:avLst/>
          </a:prstGeom>
        </p:spPr>
      </p:pic>
    </p:spTree>
    <p:extLst>
      <p:ext uri="{BB962C8B-B14F-4D97-AF65-F5344CB8AC3E}">
        <p14:creationId xmlns:p14="http://schemas.microsoft.com/office/powerpoint/2010/main" val="3174435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F4F80-06E7-DAA3-0AD5-978233A02E4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DEFB8885-C811-2471-8378-21AE428CD298}"/>
              </a:ext>
            </a:extLst>
          </p:cNvPr>
          <p:cNvSpPr>
            <a:spLocks noGrp="1"/>
          </p:cNvSpPr>
          <p:nvPr>
            <p:ph idx="1"/>
          </p:nvPr>
        </p:nvSpPr>
        <p:spPr>
          <a:xfrm>
            <a:off x="838200" y="1825625"/>
            <a:ext cx="7896043" cy="4351338"/>
          </a:xfrm>
        </p:spPr>
        <p:txBody>
          <a:bodyPr/>
          <a:lstStyle/>
          <a:p>
            <a:pPr marL="0" indent="0">
              <a:buNone/>
            </a:pPr>
            <a:r>
              <a:rPr lang="en-US" b="1" dirty="0"/>
              <a:t>LOAD_SILVER</a:t>
            </a:r>
          </a:p>
          <a:p>
            <a:r>
              <a:rPr lang="en-US" dirty="0"/>
              <a:t>Manages the execution of NB_FMD_LOAD_BRONZE_SILVER through NB_FMD_PROCESSING_PARALLEL_MAIN and </a:t>
            </a:r>
            <a:r>
              <a:rPr lang="en-US" dirty="0" err="1"/>
              <a:t>DataFLow</a:t>
            </a:r>
            <a:r>
              <a:rPr lang="en-US" dirty="0"/>
              <a:t> different metadata for the Silver layer.</a:t>
            </a:r>
          </a:p>
          <a:p>
            <a:r>
              <a:rPr lang="en-IN" dirty="0"/>
              <a:t>Load to WAREHOUSE WH_CURATED_LAYER having schema silver</a:t>
            </a:r>
          </a:p>
        </p:txBody>
      </p:sp>
      <p:pic>
        <p:nvPicPr>
          <p:cNvPr id="5" name="Picture 4">
            <a:extLst>
              <a:ext uri="{FF2B5EF4-FFF2-40B4-BE49-F238E27FC236}">
                <a16:creationId xmlns:a16="http://schemas.microsoft.com/office/drawing/2014/main" id="{AD410B07-6A77-A8CD-1FFF-88A1199E53B2}"/>
              </a:ext>
            </a:extLst>
          </p:cNvPr>
          <p:cNvPicPr>
            <a:picLocks noChangeAspect="1"/>
          </p:cNvPicPr>
          <p:nvPr/>
        </p:nvPicPr>
        <p:blipFill>
          <a:blip r:embed="rId2"/>
          <a:stretch>
            <a:fillRect/>
          </a:stretch>
        </p:blipFill>
        <p:spPr>
          <a:xfrm>
            <a:off x="9036584" y="717755"/>
            <a:ext cx="2317216" cy="5035177"/>
          </a:xfrm>
          <a:prstGeom prst="rect">
            <a:avLst/>
          </a:prstGeom>
        </p:spPr>
      </p:pic>
    </p:spTree>
    <p:extLst>
      <p:ext uri="{BB962C8B-B14F-4D97-AF65-F5344CB8AC3E}">
        <p14:creationId xmlns:p14="http://schemas.microsoft.com/office/powerpoint/2010/main" val="4069466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D0F0CD5-4FD7-70AF-2FF5-F2339687852C}"/>
              </a:ext>
            </a:extLst>
          </p:cNvPr>
          <p:cNvPicPr>
            <a:picLocks noChangeAspect="1"/>
          </p:cNvPicPr>
          <p:nvPr/>
        </p:nvPicPr>
        <p:blipFill>
          <a:blip r:embed="rId2"/>
          <a:stretch>
            <a:fillRect/>
          </a:stretch>
        </p:blipFill>
        <p:spPr>
          <a:xfrm>
            <a:off x="845574" y="631074"/>
            <a:ext cx="10500851" cy="4819654"/>
          </a:xfrm>
          <a:prstGeom prst="rect">
            <a:avLst/>
          </a:prstGeom>
        </p:spPr>
      </p:pic>
    </p:spTree>
    <p:extLst>
      <p:ext uri="{BB962C8B-B14F-4D97-AF65-F5344CB8AC3E}">
        <p14:creationId xmlns:p14="http://schemas.microsoft.com/office/powerpoint/2010/main" val="3284047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86CB79-A61B-C2FC-73E8-F07998CFAA9C}"/>
              </a:ext>
            </a:extLst>
          </p:cNvPr>
          <p:cNvSpPr>
            <a:spLocks noGrp="1"/>
          </p:cNvSpPr>
          <p:nvPr>
            <p:ph idx="1"/>
          </p:nvPr>
        </p:nvSpPr>
        <p:spPr/>
        <p:txBody>
          <a:bodyPr/>
          <a:lstStyle/>
          <a:p>
            <a:pPr marL="0" indent="0">
              <a:buNone/>
            </a:pPr>
            <a:r>
              <a:rPr lang="en-US" b="1" dirty="0"/>
              <a:t>LOAD_GOLD</a:t>
            </a:r>
          </a:p>
          <a:p>
            <a:r>
              <a:rPr lang="en-US" dirty="0"/>
              <a:t> manages the execution of </a:t>
            </a:r>
            <a:r>
              <a:rPr lang="en-US" dirty="0" err="1"/>
              <a:t>DataFlows</a:t>
            </a:r>
            <a:r>
              <a:rPr lang="en-US" dirty="0"/>
              <a:t> through a parallel </a:t>
            </a:r>
            <a:r>
              <a:rPr lang="en-US" dirty="0" err="1"/>
              <a:t>ForEach</a:t>
            </a:r>
            <a:r>
              <a:rPr lang="en-US" dirty="0"/>
              <a:t> loop within the PL_FMD_LOAD_GOLD pipeline. Unlike the other layers, the Gold layer is driven by table-specific curated business logic, providing the flexibility to implement custom pipelines and transformations as required. Therefore, this layer cannot be fully generalized like the Landing, Bronze, or Silver layers.</a:t>
            </a:r>
          </a:p>
          <a:p>
            <a:r>
              <a:rPr lang="en-US" dirty="0"/>
              <a:t>The processed and curated data is finally loaded into the WH_CURATED_LAYER warehouse under the gold schema.</a:t>
            </a:r>
            <a:endParaRPr lang="en-IN" dirty="0"/>
          </a:p>
        </p:txBody>
      </p:sp>
    </p:spTree>
    <p:extLst>
      <p:ext uri="{BB962C8B-B14F-4D97-AF65-F5344CB8AC3E}">
        <p14:creationId xmlns:p14="http://schemas.microsoft.com/office/powerpoint/2010/main" val="2104779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C5BAB-62E4-B014-F66F-9B20E726C48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F6D470-EAB6-B843-3325-3E8AD67789E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FC30453-8ABC-7147-3496-4A8F2A371D71}"/>
              </a:ext>
            </a:extLst>
          </p:cNvPr>
          <p:cNvPicPr>
            <a:picLocks noChangeAspect="1"/>
          </p:cNvPicPr>
          <p:nvPr/>
        </p:nvPicPr>
        <p:blipFill>
          <a:blip r:embed="rId2"/>
          <a:stretch>
            <a:fillRect/>
          </a:stretch>
        </p:blipFill>
        <p:spPr>
          <a:xfrm>
            <a:off x="0" y="359882"/>
            <a:ext cx="12192000" cy="6138236"/>
          </a:xfrm>
          <a:prstGeom prst="rect">
            <a:avLst/>
          </a:prstGeom>
        </p:spPr>
      </p:pic>
    </p:spTree>
    <p:extLst>
      <p:ext uri="{BB962C8B-B14F-4D97-AF65-F5344CB8AC3E}">
        <p14:creationId xmlns:p14="http://schemas.microsoft.com/office/powerpoint/2010/main" val="2007299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C375E-D110-28DB-B13F-0A64176DDF01}"/>
              </a:ext>
            </a:extLst>
          </p:cNvPr>
          <p:cNvSpPr>
            <a:spLocks noGrp="1"/>
          </p:cNvSpPr>
          <p:nvPr>
            <p:ph type="title"/>
          </p:nvPr>
        </p:nvSpPr>
        <p:spPr/>
        <p:txBody>
          <a:bodyPr/>
          <a:lstStyle/>
          <a:p>
            <a:r>
              <a:rPr lang="en-IN" dirty="0"/>
              <a:t>DBT JOB-&gt; Silver-&gt;Gold</a:t>
            </a:r>
          </a:p>
        </p:txBody>
      </p:sp>
      <p:pic>
        <p:nvPicPr>
          <p:cNvPr id="5" name="Picture 4">
            <a:extLst>
              <a:ext uri="{FF2B5EF4-FFF2-40B4-BE49-F238E27FC236}">
                <a16:creationId xmlns:a16="http://schemas.microsoft.com/office/drawing/2014/main" id="{3BC65FBE-5603-2297-7AD9-B6F1394FA417}"/>
              </a:ext>
            </a:extLst>
          </p:cNvPr>
          <p:cNvPicPr>
            <a:picLocks noChangeAspect="1"/>
          </p:cNvPicPr>
          <p:nvPr/>
        </p:nvPicPr>
        <p:blipFill>
          <a:blip r:embed="rId2"/>
          <a:stretch>
            <a:fillRect/>
          </a:stretch>
        </p:blipFill>
        <p:spPr>
          <a:xfrm>
            <a:off x="1689086" y="1573161"/>
            <a:ext cx="5586786" cy="4318150"/>
          </a:xfrm>
          <a:prstGeom prst="rect">
            <a:avLst/>
          </a:prstGeom>
        </p:spPr>
      </p:pic>
    </p:spTree>
    <p:extLst>
      <p:ext uri="{BB962C8B-B14F-4D97-AF65-F5344CB8AC3E}">
        <p14:creationId xmlns:p14="http://schemas.microsoft.com/office/powerpoint/2010/main" val="83979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4D639-B905-AE57-F919-FBF2E6837F05}"/>
              </a:ext>
            </a:extLst>
          </p:cNvPr>
          <p:cNvSpPr>
            <a:spLocks noGrp="1"/>
          </p:cNvSpPr>
          <p:nvPr>
            <p:ph type="title"/>
          </p:nvPr>
        </p:nvSpPr>
        <p:spPr/>
        <p:txBody>
          <a:bodyPr/>
          <a:lstStyle/>
          <a:p>
            <a:r>
              <a:rPr lang="en-IN" dirty="0"/>
              <a:t>MODEL Report</a:t>
            </a:r>
          </a:p>
        </p:txBody>
      </p:sp>
      <p:pic>
        <p:nvPicPr>
          <p:cNvPr id="5" name="Picture 4">
            <a:extLst>
              <a:ext uri="{FF2B5EF4-FFF2-40B4-BE49-F238E27FC236}">
                <a16:creationId xmlns:a16="http://schemas.microsoft.com/office/drawing/2014/main" id="{DF155B27-85A8-69A6-7E3F-28BB9CA1DE65}"/>
              </a:ext>
            </a:extLst>
          </p:cNvPr>
          <p:cNvPicPr>
            <a:picLocks noChangeAspect="1"/>
          </p:cNvPicPr>
          <p:nvPr/>
        </p:nvPicPr>
        <p:blipFill>
          <a:blip r:embed="rId2"/>
          <a:stretch>
            <a:fillRect/>
          </a:stretch>
        </p:blipFill>
        <p:spPr>
          <a:xfrm>
            <a:off x="766916" y="1563594"/>
            <a:ext cx="9694606" cy="4929281"/>
          </a:xfrm>
          <a:prstGeom prst="rect">
            <a:avLst/>
          </a:prstGeom>
        </p:spPr>
      </p:pic>
    </p:spTree>
    <p:extLst>
      <p:ext uri="{BB962C8B-B14F-4D97-AF65-F5344CB8AC3E}">
        <p14:creationId xmlns:p14="http://schemas.microsoft.com/office/powerpoint/2010/main" val="2988414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B4FE51-0119-8A71-A638-330852D4E178}"/>
              </a:ext>
            </a:extLst>
          </p:cNvPr>
          <p:cNvPicPr>
            <a:picLocks noChangeAspect="1"/>
          </p:cNvPicPr>
          <p:nvPr/>
        </p:nvPicPr>
        <p:blipFill>
          <a:blip r:embed="rId2"/>
          <a:stretch>
            <a:fillRect/>
          </a:stretch>
        </p:blipFill>
        <p:spPr>
          <a:xfrm>
            <a:off x="439710" y="532482"/>
            <a:ext cx="11624021" cy="5504524"/>
          </a:xfrm>
          <a:prstGeom prst="rect">
            <a:avLst/>
          </a:prstGeom>
        </p:spPr>
      </p:pic>
    </p:spTree>
    <p:extLst>
      <p:ext uri="{BB962C8B-B14F-4D97-AF65-F5344CB8AC3E}">
        <p14:creationId xmlns:p14="http://schemas.microsoft.com/office/powerpoint/2010/main" val="3707162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7EEC46-7F43-2833-4B06-B4FB85C60F85}"/>
              </a:ext>
            </a:extLst>
          </p:cNvPr>
          <p:cNvPicPr>
            <a:picLocks noChangeAspect="1"/>
          </p:cNvPicPr>
          <p:nvPr/>
        </p:nvPicPr>
        <p:blipFill>
          <a:blip r:embed="rId2"/>
          <a:stretch>
            <a:fillRect/>
          </a:stretch>
        </p:blipFill>
        <p:spPr>
          <a:xfrm>
            <a:off x="1230208" y="693183"/>
            <a:ext cx="9731583" cy="5471634"/>
          </a:xfrm>
          <a:prstGeom prst="rect">
            <a:avLst/>
          </a:prstGeom>
        </p:spPr>
      </p:pic>
    </p:spTree>
    <p:extLst>
      <p:ext uri="{BB962C8B-B14F-4D97-AF65-F5344CB8AC3E}">
        <p14:creationId xmlns:p14="http://schemas.microsoft.com/office/powerpoint/2010/main" val="3799838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55707-04B9-0714-8FFD-482C11D82E92}"/>
              </a:ext>
            </a:extLst>
          </p:cNvPr>
          <p:cNvSpPr>
            <a:spLocks noGrp="1"/>
          </p:cNvSpPr>
          <p:nvPr>
            <p:ph type="title"/>
          </p:nvPr>
        </p:nvSpPr>
        <p:spPr/>
        <p:txBody>
          <a:bodyPr/>
          <a:lstStyle/>
          <a:p>
            <a:r>
              <a:rPr lang="en-IN" dirty="0"/>
              <a:t>Copilot Assisted Transformation in DF</a:t>
            </a:r>
          </a:p>
        </p:txBody>
      </p:sp>
      <p:pic>
        <p:nvPicPr>
          <p:cNvPr id="5" name="Picture 4">
            <a:extLst>
              <a:ext uri="{FF2B5EF4-FFF2-40B4-BE49-F238E27FC236}">
                <a16:creationId xmlns:a16="http://schemas.microsoft.com/office/drawing/2014/main" id="{538A0370-2CD4-72DB-82F8-2EC9E8B5B251}"/>
              </a:ext>
            </a:extLst>
          </p:cNvPr>
          <p:cNvPicPr>
            <a:picLocks noChangeAspect="1"/>
          </p:cNvPicPr>
          <p:nvPr/>
        </p:nvPicPr>
        <p:blipFill>
          <a:blip r:embed="rId2"/>
          <a:stretch>
            <a:fillRect/>
          </a:stretch>
        </p:blipFill>
        <p:spPr>
          <a:xfrm>
            <a:off x="838200" y="1422696"/>
            <a:ext cx="9881419" cy="4925619"/>
          </a:xfrm>
          <a:prstGeom prst="rect">
            <a:avLst/>
          </a:prstGeom>
        </p:spPr>
      </p:pic>
    </p:spTree>
    <p:extLst>
      <p:ext uri="{BB962C8B-B14F-4D97-AF65-F5344CB8AC3E}">
        <p14:creationId xmlns:p14="http://schemas.microsoft.com/office/powerpoint/2010/main" val="3853102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2D8CDCB-53AF-C180-4D37-F5ADD4309F61}"/>
              </a:ext>
            </a:extLst>
          </p:cNvPr>
          <p:cNvPicPr>
            <a:picLocks noChangeAspect="1"/>
          </p:cNvPicPr>
          <p:nvPr/>
        </p:nvPicPr>
        <p:blipFill>
          <a:blip r:embed="rId2"/>
          <a:stretch>
            <a:fillRect/>
          </a:stretch>
        </p:blipFill>
        <p:spPr>
          <a:xfrm>
            <a:off x="178938" y="557166"/>
            <a:ext cx="11834124" cy="5743668"/>
          </a:xfrm>
          <a:prstGeom prst="rect">
            <a:avLst/>
          </a:prstGeom>
        </p:spPr>
      </p:pic>
    </p:spTree>
    <p:extLst>
      <p:ext uri="{BB962C8B-B14F-4D97-AF65-F5344CB8AC3E}">
        <p14:creationId xmlns:p14="http://schemas.microsoft.com/office/powerpoint/2010/main" val="3282162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A4E47-356C-7CD3-2F37-B1AFA59D6424}"/>
              </a:ext>
            </a:extLst>
          </p:cNvPr>
          <p:cNvSpPr>
            <a:spLocks noGrp="1"/>
          </p:cNvSpPr>
          <p:nvPr>
            <p:ph type="title"/>
          </p:nvPr>
        </p:nvSpPr>
        <p:spPr/>
        <p:txBody>
          <a:bodyPr/>
          <a:lstStyle/>
          <a:p>
            <a:pPr algn="ctr"/>
            <a:r>
              <a:rPr lang="en-IN" b="1" dirty="0"/>
              <a:t>GITHUB</a:t>
            </a:r>
          </a:p>
        </p:txBody>
      </p:sp>
      <p:sp>
        <p:nvSpPr>
          <p:cNvPr id="3" name="Content Placeholder 2">
            <a:extLst>
              <a:ext uri="{FF2B5EF4-FFF2-40B4-BE49-F238E27FC236}">
                <a16:creationId xmlns:a16="http://schemas.microsoft.com/office/drawing/2014/main" id="{E65D6FE8-05B5-30E1-5341-4DB1389896F2}"/>
              </a:ext>
            </a:extLst>
          </p:cNvPr>
          <p:cNvSpPr>
            <a:spLocks noGrp="1"/>
          </p:cNvSpPr>
          <p:nvPr>
            <p:ph idx="1"/>
          </p:nvPr>
        </p:nvSpPr>
        <p:spPr/>
        <p:txBody>
          <a:bodyPr/>
          <a:lstStyle/>
          <a:p>
            <a:r>
              <a:rPr lang="en-IN" dirty="0"/>
              <a:t>https://github.com/Geekkailash/fabrick-customer360</a:t>
            </a:r>
          </a:p>
        </p:txBody>
      </p:sp>
      <p:pic>
        <p:nvPicPr>
          <p:cNvPr id="5" name="Picture 4">
            <a:extLst>
              <a:ext uri="{FF2B5EF4-FFF2-40B4-BE49-F238E27FC236}">
                <a16:creationId xmlns:a16="http://schemas.microsoft.com/office/drawing/2014/main" id="{66D92732-EB11-DA30-B2C4-84EFC370B317}"/>
              </a:ext>
            </a:extLst>
          </p:cNvPr>
          <p:cNvPicPr>
            <a:picLocks noChangeAspect="1"/>
          </p:cNvPicPr>
          <p:nvPr/>
        </p:nvPicPr>
        <p:blipFill>
          <a:blip r:embed="rId2"/>
          <a:stretch>
            <a:fillRect/>
          </a:stretch>
        </p:blipFill>
        <p:spPr>
          <a:xfrm>
            <a:off x="1160130" y="2634979"/>
            <a:ext cx="6479534" cy="3857896"/>
          </a:xfrm>
          <a:prstGeom prst="rect">
            <a:avLst/>
          </a:prstGeom>
        </p:spPr>
      </p:pic>
    </p:spTree>
    <p:extLst>
      <p:ext uri="{BB962C8B-B14F-4D97-AF65-F5344CB8AC3E}">
        <p14:creationId xmlns:p14="http://schemas.microsoft.com/office/powerpoint/2010/main" val="280386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473</TotalTime>
  <Words>410</Words>
  <Application>Microsoft Office PowerPoint</Application>
  <PresentationFormat>Widescreen</PresentationFormat>
  <Paragraphs>36</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Theme</vt:lpstr>
      <vt:lpstr>FMD Framework</vt:lpstr>
      <vt:lpstr>PowerPoint Presentation</vt:lpstr>
      <vt:lpstr>PowerPoint Presentation</vt:lpstr>
      <vt:lpstr>FMD Data Pipelines overview</vt:lpstr>
      <vt:lpstr>PowerPoint Presentation</vt:lpstr>
      <vt:lpstr>LOAD_LANDINGZONE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DBT JOB-&gt; Silver-&gt;Gold</vt:lpstr>
      <vt:lpstr>MODEL Report</vt:lpstr>
      <vt:lpstr>PowerPoint Presentation</vt:lpstr>
      <vt:lpstr>PowerPoint Presentation</vt:lpstr>
      <vt:lpstr>Copilot Assisted Transformation in DF</vt:lpstr>
      <vt:lpstr>PowerPoint Presentation</vt:lpstr>
      <vt:lpstr>GITHUB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kailash bhandari</dc:creator>
  <cp:lastModifiedBy>kailash bhandari</cp:lastModifiedBy>
  <cp:revision>2</cp:revision>
  <dcterms:created xsi:type="dcterms:W3CDTF">2026-05-08T10:16:01Z</dcterms:created>
  <dcterms:modified xsi:type="dcterms:W3CDTF">2026-05-08T18:09:55Z</dcterms:modified>
</cp:coreProperties>
</file>